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8749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>
                <a:solidFill>
                  <a:srgbClr val="E8E4DC"/>
                </a:solidFill>
                <a:latin typeface="Segoe UI"/>
              </a:rPr>
              <a:t>FOREIGN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1087495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>
                <a:solidFill>
                  <a:srgbClr val="9A9488"/>
                </a:solidFill>
                <a:latin typeface="Segoe UI"/>
              </a:rPr>
              <a:t>异物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529584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8E4DC"/>
                </a:solidFill>
                <a:latin typeface="Segoe UI"/>
              </a:rPr>
              <a:t>这间屋子里有东西不该在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041648"/>
            <a:ext cx="10874959" cy="9525"/>
          </a:xfrm>
          <a:prstGeom prst="rect">
            <a:avLst/>
          </a:prstGeom>
          <a:solidFill>
            <a:srgbClr val="2C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261104"/>
            <a:ext cx="108749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9A9488"/>
                </a:solidFill>
                <a:latin typeface="Segoe UI"/>
              </a:rPr>
              <a:t>第一人称恐怖找异常 · 发生在 3D 重建的真实房间里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9A9488"/>
                </a:solidFill>
                <a:latin typeface="Segoe UI"/>
              </a:rPr>
              <a:t>Manycore Aholo Global 3D AI Hackathon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3B2E"/>
                </a:solidFill>
                <a:latin typeface="Segoe UI"/>
              </a:rPr>
              <a:t>一句话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749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8E4DC"/>
                </a:solidFill>
                <a:latin typeface="Segoe UI"/>
              </a:rPr>
              <a:t>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9616"/>
            <a:ext cx="10874959" cy="9525"/>
          </a:xfrm>
          <a:prstGeom prst="rect">
            <a:avLst/>
          </a:prstGeom>
          <a:solidFill>
            <a:srgbClr val="2C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550"/>
                </a:solidFill>
                <a:latin typeface="Segoe UI"/>
              </a:rPr>
              <a:t>FOREIGN / 异物    ·    概览    ·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6766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E8E4DC"/>
                </a:solidFill>
                <a:latin typeface="Segoe UI"/>
              </a:rPr>
              <a:t>走进一间被 3DGS 重建的真实公寓。它看起来就是一个普通的家 ——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8E4DC"/>
                </a:solidFill>
                <a:latin typeface="Segoe UI"/>
              </a:rPr>
              <a:t>问题恰恰在这里：每一层都有东西不属于这里。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8E4DC"/>
                </a:solidFill>
                <a:latin typeface="Segoe U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8E4DC"/>
                </a:solidFill>
                <a:latin typeface="Segoe UI"/>
              </a:rPr>
              <a:t>在计时结束前找出全部。每层只有 3 次标记机会，标错扣时间与机会。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8E4DC"/>
                </a:solidFill>
                <a:latin typeface="Segoe UI"/>
              </a:rPr>
              <a:t>全部找到就下潜一层：同一个房间，重新洗牌。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661910" y="2247519"/>
            <a:ext cx="3878580" cy="2198370"/>
          </a:xfrm>
          <a:prstGeom prst="rect">
            <a:avLst/>
          </a:prstGeom>
          <a:solidFill>
            <a:srgbClr val="22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266569"/>
            <a:ext cx="3840480" cy="21602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394960"/>
            <a:ext cx="1087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9488"/>
                </a:solidFill>
                <a:latin typeface="Segoe UI"/>
              </a:rPr>
              <a:t>上面这张是游戏里的原始画面，不是概念图 —— 房间是重建出来的，不是建模出来的。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3B2E"/>
                </a:solidFill>
                <a:latin typeface="Segoe UI"/>
              </a:rPr>
              <a:t>核心判断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749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8E4DC"/>
                </a:solidFill>
                <a:latin typeface="Segoe UI"/>
              </a:rPr>
              <a:t>我们把重建当成可玩，而不是可浏览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9616"/>
            <a:ext cx="10874959" cy="9525"/>
          </a:xfrm>
          <a:prstGeom prst="rect">
            <a:avLst/>
          </a:prstGeom>
          <a:solidFill>
            <a:srgbClr val="2C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550"/>
                </a:solidFill>
                <a:latin typeface="Segoe UI"/>
              </a:rPr>
              <a:t>FOREIGN / 异物    ·    设计    ·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92224"/>
            <a:ext cx="5760720" cy="100584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20240"/>
            <a:ext cx="53218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8E4DC"/>
                </a:solidFill>
                <a:latin typeface="Segoe UI"/>
              </a:rPr>
              <a:t>房间只重建一次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美术成本是固定的。它是一件资产，不是一个关卡。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62656"/>
            <a:ext cx="5760720" cy="100584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090672"/>
            <a:ext cx="53218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8E4DC"/>
                </a:solidFill>
                <a:latin typeface="Segoe UI"/>
              </a:rPr>
              <a:t>所有变化来自生成的 3D 内容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每层的不同不是重新布置家具，而是放进新的东西。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133088"/>
            <a:ext cx="5760720" cy="100584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261104"/>
            <a:ext cx="53218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8E4DC"/>
                </a:solidFill>
                <a:latin typeface="Segoe UI"/>
              </a:rPr>
              <a:t>没有 Lux3D，这个游戏不成立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异物只能来自文生 3D。工具是内容引擎，不是点缀。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4358" y="2195027"/>
            <a:ext cx="4878019" cy="2760554"/>
          </a:xfrm>
          <a:prstGeom prst="rect">
            <a:avLst/>
          </a:prstGeom>
          <a:solidFill>
            <a:srgbClr val="22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-foreign-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214077"/>
            <a:ext cx="4839919" cy="27224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3B2E"/>
                </a:solidFill>
                <a:latin typeface="Segoe UI"/>
              </a:rPr>
              <a:t>玩法 · 一条规则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749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8E4DC"/>
                </a:solidFill>
                <a:latin typeface="Segoe UI"/>
              </a:rPr>
              <a:t>只看它做什么，不看它是什么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9616"/>
            <a:ext cx="10874959" cy="9525"/>
          </a:xfrm>
          <a:prstGeom prst="rect">
            <a:avLst/>
          </a:prstGeom>
          <a:solidFill>
            <a:srgbClr val="2C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550"/>
                </a:solidFill>
                <a:latin typeface="Segoe UI"/>
              </a:rPr>
              <a:t>FOREIGN / 异物    ·    玩法    ·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6035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A9488"/>
                </a:solidFill>
                <a:latin typeface="Segoe UI"/>
              </a:rPr>
              <a:t>不需要背房间，不需要和上一层对比 —— 一眼就要能判。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A9488"/>
                </a:solidFill>
                <a:latin typeface="Segoe UI"/>
              </a:rPr>
              <a:t>甚至不需要判断这东西该不该在这儿：房间里本来就摆着同样奇怪的模型。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A9488"/>
                </a:solidFill>
                <a:latin typeface="Segoe UI"/>
              </a:rPr>
              <a:t>凡是「和上一层不一样」才算的异常，都被砍掉了。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23B2E"/>
                </a:solidFill>
                <a:latin typeface="Segoe UI"/>
              </a:rPr>
              <a:t>所以：异常一定在「动」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3756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在看你、浮起来、变了形、多了几个、倒过来、成群 —— 摆着不动的都是无辜的。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605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E4DC"/>
                </a:solidFill>
                <a:latin typeface="Segoe UI"/>
              </a:rPr>
              <a:t>现有 6 种异常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72000"/>
            <a:ext cx="1335024" cy="45720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663440"/>
            <a:ext cx="1335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8E4DC"/>
                </a:solidFill>
                <a:latin typeface="Segoe UI"/>
              </a:rPr>
              <a:t>注视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9696" y="4572000"/>
            <a:ext cx="1335024" cy="45720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4663440"/>
            <a:ext cx="1335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8E4DC"/>
                </a:solidFill>
                <a:latin typeface="Segoe UI"/>
              </a:rPr>
              <a:t>悬浮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21024" y="4572000"/>
            <a:ext cx="1335024" cy="45720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4663440"/>
            <a:ext cx="1335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8E4DC"/>
                </a:solidFill>
                <a:latin typeface="Segoe UI"/>
              </a:rPr>
              <a:t>变形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4572000"/>
            <a:ext cx="1335024" cy="45720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4663440"/>
            <a:ext cx="1335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8E4DC"/>
                </a:solidFill>
                <a:latin typeface="Segoe UI"/>
              </a:rPr>
              <a:t>复制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138928"/>
            <a:ext cx="1335024" cy="45720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230368"/>
            <a:ext cx="1335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8E4DC"/>
                </a:solidFill>
                <a:latin typeface="Segoe UI"/>
              </a:rPr>
              <a:t>倒挂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39696" y="5138928"/>
            <a:ext cx="1335024" cy="45720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5230368"/>
            <a:ext cx="1335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8E4DC"/>
                </a:solidFill>
                <a:latin typeface="Segoe UI"/>
              </a:rPr>
              <a:t>成群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7150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删掉了「异物闯入」：房间里站着同类无辜物件之后，「它不该在这儿」就不再可判。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0390" y="2407539"/>
            <a:ext cx="4610100" cy="2609850"/>
          </a:xfrm>
          <a:prstGeom prst="rect">
            <a:avLst/>
          </a:prstGeom>
          <a:solidFill>
            <a:srgbClr val="22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0-horror-st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426589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3B2E"/>
                </a:solidFill>
                <a:latin typeface="Segoe UI"/>
              </a:rPr>
              <a:t>工具使用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749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8E4DC"/>
                </a:solidFill>
                <a:latin typeface="Segoe UI"/>
              </a:rPr>
              <a:t>用到的 Manycore / Aholo 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9616"/>
            <a:ext cx="10874959" cy="9525"/>
          </a:xfrm>
          <a:prstGeom prst="rect">
            <a:avLst/>
          </a:prstGeom>
          <a:solidFill>
            <a:srgbClr val="2C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550"/>
                </a:solidFill>
                <a:latin typeface="Segoe UI"/>
              </a:rPr>
              <a:t>FOREIGN / 异物    ·    技术    ·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92224"/>
            <a:ext cx="10874959" cy="749808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2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4DC"/>
                </a:solidFill>
                <a:latin typeface="Segoe UI"/>
              </a:rPr>
              <a:t>Aholo Lux3D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23B2E"/>
                </a:solidFill>
                <a:latin typeface="Segoe UI"/>
              </a:rPr>
              <a:t>文生 3D · 必需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975104"/>
            <a:ext cx="6943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异物资产的唯一来源。两条接入路径：Open API 批处理，或网页版导出后导入。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60904"/>
            <a:ext cx="10874959" cy="749808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4DC"/>
                </a:solidFill>
                <a:latin typeface="Segoe UI"/>
              </a:rPr>
              <a:t>Aholo Open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81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23B2E"/>
                </a:solidFill>
                <a:latin typeface="Segoe UI"/>
              </a:rPr>
              <a:t>REST · 已对真实接口验证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843784"/>
            <a:ext cx="6943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创建 → 轮询 → 立刻下载（结果 URL 2 小时过期）。认证头与错误映射已实测。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29584"/>
            <a:ext cx="10874959" cy="749808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61188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4DC"/>
                </a:solidFill>
                <a:latin typeface="Segoe UI"/>
              </a:rPr>
              <a:t>@manycore/aholo-viewer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950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23B2E"/>
                </a:solidFill>
                <a:latin typeface="Segoe UI"/>
              </a:rPr>
              <a:t>3DGS 渲染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712464"/>
            <a:ext cx="6943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在浏览器里渲染真实重建的房间，第一人称行走。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398263"/>
            <a:ext cx="10874959" cy="749808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480559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4DC"/>
                </a:solidFill>
                <a:latin typeface="Segoe UI"/>
              </a:rPr>
              <a:t>官方开源 3DGS 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81888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23B2E"/>
                </a:solidFill>
                <a:latin typeface="Segoe UI"/>
              </a:rPr>
              <a:t>scene.7c26e842.spz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4581143"/>
            <a:ext cx="6943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63 MB 室内高斯泼溅场景，运行时流式加载。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266944"/>
            <a:ext cx="10874959" cy="749808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34924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4DC"/>
                </a:solidFill>
                <a:latin typeface="Segoe UI"/>
              </a:rPr>
              <a:t>官方体素碰撞场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687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23B2E"/>
                </a:solidFill>
                <a:latin typeface="Segoe UI"/>
              </a:rPr>
              <a:t>collision.voxel.bin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5449824"/>
            <a:ext cx="6943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304 KB，八叉树 + 叶位。地板、墙体、天花板都是它。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3B2E"/>
                </a:solidFill>
                <a:latin typeface="Segoe UI"/>
              </a:rPr>
              <a:t>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749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8E4DC"/>
                </a:solidFill>
                <a:latin typeface="Segoe UI"/>
              </a:rPr>
              <a:t>两个渲染后端，一套玩法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9616"/>
            <a:ext cx="10874959" cy="9525"/>
          </a:xfrm>
          <a:prstGeom prst="rect">
            <a:avLst/>
          </a:prstGeom>
          <a:solidFill>
            <a:srgbClr val="2C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550"/>
                </a:solidFill>
                <a:latin typeface="Segoe UI"/>
              </a:rPr>
              <a:t>FOREIGN / 异物    ·    技术    ·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92224"/>
            <a:ext cx="6400800" cy="118872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202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23B2E"/>
                </a:solidFill>
                <a:latin typeface="Segoe UI"/>
              </a:rPr>
              <a:t>真实房间（默认入口）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@manycore/aholo-viewer + 官方 3DGS 场景 + 体素碰撞。
相机、行走、胶囊碰撞全部自己接管，才能控制手感。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163824"/>
            <a:ext cx="6400800" cy="118872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2918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9A9488"/>
                </a:solidFill>
                <a:latin typeface="Segoe UI"/>
              </a:rPr>
              <a:t>程序化房间（classic.html）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three.js 搭建的同一套房间，用于对比与回退。
它证明玩法不依赖某一个渲染器。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72584"/>
            <a:ext cx="6400800" cy="91440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09744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FA86B"/>
                </a:solidFill>
                <a:latin typeface="Segoe UI"/>
              </a:rPr>
              <a:t>共享层：规则 / 目录 / 类型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不含任何渲染依赖，所以同一套关卡生成逻辑被两个后端使用，也被 113 个单测覆盖。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70470" y="2564701"/>
            <a:ext cx="3970019" cy="2249805"/>
          </a:xfrm>
          <a:prstGeom prst="rect">
            <a:avLst/>
          </a:prstGeom>
          <a:solidFill>
            <a:srgbClr val="22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-living-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583751"/>
            <a:ext cx="3931919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3B2E"/>
                </a:solidFill>
                <a:latin typeface="Segoe UI"/>
              </a:rPr>
              <a:t>资产迭代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749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8E4DC"/>
                </a:solidFill>
                <a:latin typeface="Segoe UI"/>
              </a:rPr>
              <a:t>占位模型 → 相机实测锚点 → Lux3D 生成 → 运行时替换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9616"/>
            <a:ext cx="10874959" cy="9525"/>
          </a:xfrm>
          <a:prstGeom prst="rect">
            <a:avLst/>
          </a:prstGeom>
          <a:solidFill>
            <a:srgbClr val="2C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550"/>
                </a:solidFill>
                <a:latin typeface="Segoe UI"/>
              </a:rPr>
              <a:t>FOREIGN / 异物    ·    资产    ·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92224"/>
            <a:ext cx="5943600" cy="676656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8366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E4DC"/>
                </a:solidFill>
                <a:latin typeface="Segoe UI"/>
              </a:rPr>
              <a:t>1 · 占位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21 个程序化 GLB 烘焙进构建，688 KB。任何时候都可玩，不依赖网络。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78608"/>
            <a:ext cx="5943600" cy="676656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6700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E4DC"/>
                </a:solidFill>
                <a:latin typeface="Segoe UI"/>
              </a:rPr>
              <a:t>2 · 锚点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0.25 m 网格向下投射得 219 个候选面 → 楼层带筛到 112 → 胶囊可站立 97 → 排除离入口 1.6 m 内 → 最远点贪心取 9 个。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64992"/>
            <a:ext cx="5943600" cy="676656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45643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E4DC"/>
                </a:solidFill>
                <a:latin typeface="Segoe UI"/>
              </a:rPr>
              <a:t>3 · 生成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Lux3D text-to-3D。有 API key 时 npm run assets:generate 一条命令跑完；没有 key 时用网页版导出，assets:import 校验并归位。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51376"/>
            <a:ext cx="5943600" cy="676656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24281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E4DC"/>
                </a:solidFill>
                <a:latin typeface="Segoe UI"/>
              </a:rPr>
              <a:t>4 · 替换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同一个 key 放回 public/assets/foreign/ 即自动生效，不改动任何玩法逻辑。来源记在 manifest，assets:check 断言真假。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38390" y="1773174"/>
            <a:ext cx="3776980" cy="2141220"/>
          </a:xfrm>
          <a:prstGeom prst="rect">
            <a:avLst/>
          </a:prstGeom>
          <a:solidFill>
            <a:srgbClr val="22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oom-g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440" y="1792224"/>
            <a:ext cx="3738880" cy="21031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438390" y="4059174"/>
            <a:ext cx="3776980" cy="2141220"/>
          </a:xfrm>
          <a:prstGeom prst="rect">
            <a:avLst/>
          </a:prstGeom>
          <a:solidFill>
            <a:srgbClr val="22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5-wat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440" y="4078224"/>
            <a:ext cx="37388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3B2E"/>
                </a:solidFill>
                <a:latin typeface="Segoe UI"/>
              </a:rPr>
              <a:t>工程严谨性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749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8E4DC"/>
                </a:solidFill>
                <a:latin typeface="Segoe UI"/>
              </a:rPr>
              <a:t>验收不是「我看过了」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9616"/>
            <a:ext cx="10874959" cy="9525"/>
          </a:xfrm>
          <a:prstGeom prst="rect">
            <a:avLst/>
          </a:prstGeom>
          <a:solidFill>
            <a:srgbClr val="2C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550"/>
                </a:solidFill>
                <a:latin typeface="Segoe UI"/>
              </a:rPr>
              <a:t>FOREIGN / 异物    ·    质量    ·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E8E4DC"/>
                </a:solidFill>
                <a:latin typeface="Segoe UI"/>
              </a:rPr>
              <a:t>npm run verify  =  类型检查 → 单测 → 构建 → 验收，共 212 项断言，全部通过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1170432" cy="96012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9572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8E4DC"/>
                </a:solidFill>
                <a:latin typeface="Segoe UI"/>
              </a:rPr>
              <a:t>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单元测试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56816" y="2286000"/>
            <a:ext cx="1170432" cy="96012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56816" y="239572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8E4DC"/>
                </a:solidFill>
                <a:latin typeface="Segoe U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2834640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体素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5264" y="2286000"/>
            <a:ext cx="1170432" cy="96012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5264" y="239572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8E4DC"/>
                </a:solidFill>
                <a:latin typeface="Segoe U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5264" y="2834640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资产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2286000"/>
            <a:ext cx="1170432" cy="96012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39572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8E4DC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834640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splat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2286000"/>
            <a:ext cx="1170432" cy="96012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239572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8E4DC"/>
                </a:solidFill>
                <a:latin typeface="Segoe UI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834640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真实房间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0608" y="2286000"/>
            <a:ext cx="1170432" cy="96012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239572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8E4DC"/>
                </a:solidFill>
                <a:latin typeface="Segoe UI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834640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程序化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49056" y="2286000"/>
            <a:ext cx="1170432" cy="96012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239572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8E4DC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2834640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部署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456432"/>
            <a:ext cx="6675120" cy="658368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529584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8E4DC"/>
                </a:solidFill>
                <a:latin typeface="Segoe UI"/>
              </a:rPr>
              <a:t>每条移动断言都带双边界限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「能停住」和「根本没动」无法区分。所以同时断言：有碰撞时走不远，关掉碰撞后必须走得很远。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224528"/>
            <a:ext cx="6675120" cy="658368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29768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8E4DC"/>
                </a:solidFill>
                <a:latin typeface="Segoe UI"/>
              </a:rPr>
              <a:t>对照是必需项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「异常朝向玩家」只有在「地面物体不转头」也成立时才有意义，否则整个房间一起转也会通过。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992624"/>
            <a:ext cx="6675120" cy="658368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5065776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8E4DC"/>
                </a:solidFill>
                <a:latin typeface="Segoe UI"/>
              </a:rPr>
              <a:t>静默失效比崩溃更危险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「文件存在 = 已生成」让整个 Lux3D 环节变成空操作，且不报错。现在由来源记录判定，并配一条「真资产必须被跳过」的反向断言。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2286000"/>
            <a:ext cx="3840480" cy="3291840"/>
          </a:xfrm>
          <a:prstGeom prst="roundRect">
            <a:avLst/>
          </a:prstGeom>
          <a:solidFill>
            <a:srgbClr val="1C1212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2432304"/>
            <a:ext cx="34290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23B2E"/>
                </a:solidFill>
                <a:latin typeface="Segoe UI"/>
              </a:rPr>
              <a:t>实测抓到的真 bug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?autostart=1 直接崩溃：let plan 声明在 autostart 块之后，而这条路径是同步调用，变量还在暂时性死区。菜单路径永远碰不到它 —— 按钮回调跑得晚。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E8E4DC"/>
                </a:solidFill>
                <a:latin typeface="Segoe UI"/>
              </a:rPr>
              <a:t>而演示链接正是评审会点开的东西。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9A9488"/>
                </a:solidFill>
                <a:latin typeface="Segoe UI"/>
              </a:rPr>
              <a:t>另一个相反的例子：低帧率下 setTension 每帧重新锚定指数曲线，收敛变成按帧数而不是按时间，音效滞后好几秒。测试一直红，但红的不是测试写错了。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3B2E"/>
                </a:solidFill>
                <a:latin typeface="Segoe UI"/>
              </a:rPr>
              <a:t>玩法深度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749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8E4DC"/>
                </a:solidFill>
                <a:latin typeface="Segoe UI"/>
              </a:rPr>
              <a:t>恐怖来自放进来的东西，不是房间本身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9616"/>
            <a:ext cx="10874959" cy="9525"/>
          </a:xfrm>
          <a:prstGeom prst="rect">
            <a:avLst/>
          </a:prstGeom>
          <a:solidFill>
            <a:srgbClr val="2C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550"/>
                </a:solidFill>
                <a:latin typeface="Segoe UI"/>
              </a:rPr>
              <a:t>FOREIGN / 异物    ·    玩法    ·   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92224"/>
            <a:ext cx="6400800" cy="118872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29384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E4DC"/>
                </a:solidFill>
                <a:latin typeface="Segoe UI"/>
              </a:rPr>
              <a:t>它会看着你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stare 异常每帧朝玩家转向，并带轻微的呼吸浮动。
这是唯一一个不需要任何参照物就成立的异常 —— 你看着它的时候它就是错的。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163824"/>
            <a:ext cx="6400800" cy="118872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300984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E4DC"/>
                </a:solidFill>
                <a:latin typeface="Segoe UI"/>
              </a:rPr>
              <a:t>声音先于视线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9488"/>
                </a:solidFill>
                <a:latin typeface="Segoe UI"/>
              </a:rPr>
              <a:t>两个失谐振荡器拍频，经低通滤波。靠近最近异常时音量收紧、滤波打开。
标记命中是上行音，失手是下行 —— 不用看 HUD 就能分辨。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72584"/>
            <a:ext cx="6400800" cy="914400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09744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FA86B"/>
                </a:solidFill>
                <a:latin typeface="Segoe UI"/>
              </a:rPr>
              <a:t>音效是测出来的，不是「我写了」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A9488"/>
                </a:solidFill>
                <a:latin typeface="Segoe UI"/>
              </a:rPr>
              <a:t>读的是 AnalyserNode 的实际信号：7 m 处 gain 0.789、0.5 m 处 0.909，平均 RMS 近处响 21–31%。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70470" y="2564701"/>
            <a:ext cx="3970020" cy="2249805"/>
          </a:xfrm>
          <a:prstGeom prst="rect">
            <a:avLst/>
          </a:prstGeom>
          <a:solidFill>
            <a:srgbClr val="22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4-mar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583751"/>
            <a:ext cx="3931920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3B2E"/>
                </a:solidFill>
                <a:latin typeface="Segoe UI"/>
              </a:rPr>
              <a:t>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08749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8E4DC"/>
                </a:solidFill>
                <a:latin typeface="Segoe UI"/>
              </a:rPr>
              <a:t>现在到哪了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9616"/>
            <a:ext cx="10874959" cy="9525"/>
          </a:xfrm>
          <a:prstGeom prst="rect">
            <a:avLst/>
          </a:prstGeom>
          <a:solidFill>
            <a:srgbClr val="2C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5550"/>
                </a:solidFill>
                <a:latin typeface="Segoe UI"/>
              </a:rPr>
              <a:t>FOREIGN / 异物    ·    进度    · 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92224"/>
            <a:ext cx="10874959" cy="621792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4767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4DC"/>
                </a:solidFill>
                <a:latin typeface="Segoe UI"/>
              </a:rPr>
              <a:t>A · 真实 3DGS 房间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19659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FA86B"/>
                </a:solidFill>
                <a:latin typeface="Segoe UI"/>
              </a:rPr>
              <a:t>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965960"/>
            <a:ext cx="5114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9488"/>
                </a:solidFill>
                <a:latin typeface="Segoe UI"/>
              </a:rPr>
              <a:t>默认入口就是重建房间，行走、碰撞、玩法闭环全部实测通过。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05456"/>
            <a:ext cx="10874959" cy="621792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660904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4DC"/>
                </a:solidFill>
                <a:latin typeface="Segoe UI"/>
              </a:rPr>
              <a:t>C · 玩法深化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6791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FA86B"/>
                </a:solidFill>
                <a:latin typeface="Segoe UI"/>
              </a:rPr>
              <a:t>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2679192"/>
            <a:ext cx="5114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9488"/>
                </a:solidFill>
                <a:latin typeface="Segoe UI"/>
              </a:rPr>
              <a:t>音效、注视者动画、异常类型 5 → 7 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18688"/>
            <a:ext cx="10874959" cy="621792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37413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4DC"/>
                </a:solidFill>
                <a:latin typeface="Segoe UI"/>
              </a:rPr>
              <a:t>D · 部署 / 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339242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FA86B"/>
                </a:solidFill>
                <a:latin typeface="Segoe UI"/>
              </a:rPr>
              <a:t>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3392424"/>
            <a:ext cx="5114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9488"/>
                </a:solidFill>
                <a:latin typeface="Segoe UI"/>
              </a:rPr>
              <a:t>cyn-nya.github.io/foreign/ —— 线上实测 8/8，34 个资产全部就位。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31920"/>
            <a:ext cx="10874959" cy="621792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08736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4DC"/>
                </a:solidFill>
                <a:latin typeface="Segoe UI"/>
              </a:rPr>
              <a:t>demo 视频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410565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FA86B"/>
                </a:solidFill>
                <a:latin typeface="Segoe UI"/>
              </a:rPr>
              <a:t>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4105656"/>
            <a:ext cx="5114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9488"/>
                </a:solidFill>
                <a:latin typeface="Segoe UI"/>
              </a:rPr>
              <a:t>90 秒 720p。本机每秒不足一帧，录不了实机，故用真实截图合成。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45152"/>
            <a:ext cx="10874959" cy="621792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80060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4DC"/>
                </a:solidFill>
                <a:latin typeface="Segoe UI"/>
              </a:rPr>
              <a:t>B · Lux3D 资产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48188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3B2E"/>
                </a:solidFill>
                <a:latin typeface="Segoe UI"/>
              </a:rPr>
              <a:t>待生成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818888"/>
            <a:ext cx="5114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9488"/>
                </a:solidFill>
                <a:latin typeface="Segoe UI"/>
              </a:rPr>
              <a:t>两条接入路径都已就绪并验证；占位模型保证游戏完整可玩。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358384"/>
            <a:ext cx="10874959" cy="621792"/>
          </a:xfrm>
          <a:prstGeom prst="roundRect">
            <a:avLst/>
          </a:prstGeom>
          <a:solidFill>
            <a:srgbClr val="161518"/>
          </a:solidFill>
          <a:ln>
            <a:solidFill>
              <a:srgbClr val="2C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51383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E4DC"/>
                </a:solidFill>
                <a:latin typeface="Segoe UI"/>
              </a:rPr>
              <a:t>X 发帖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55321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3B2E"/>
                </a:solidFill>
                <a:latin typeface="Segoe UI"/>
              </a:rPr>
              <a:t>待发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5532120"/>
            <a:ext cx="5114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9488"/>
                </a:solidFill>
                <a:latin typeface="Segoe UI"/>
              </a:rPr>
              <a:t>文案已备好，对传播分（5%）。需要账号。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0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E8E4DC"/>
                </a:solidFill>
                <a:latin typeface="Segoe UI"/>
              </a:rPr>
              <a:t>FOREIGN / 异物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291840"/>
            <a:ext cx="10874959" cy="9525"/>
          </a:xfrm>
          <a:prstGeom prst="rect">
            <a:avLst/>
          </a:prstGeom>
          <a:solidFill>
            <a:srgbClr val="2C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520440"/>
            <a:ext cx="108749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8"/>
                </a:solidFill>
                <a:latin typeface="Segoe UI"/>
              </a:rPr>
              <a:t>一次重建，无限内容。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8"/>
                </a:solidFill>
                <a:latin typeface="Segoe UI"/>
              </a:rPr>
              <a:t>房间是真实的，多出来的东西是生成的。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937760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3B2E"/>
                </a:solidFill>
                <a:latin typeface="Segoe UI"/>
              </a:rPr>
              <a:t>#Manycorehackathon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